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12192000"/>
  <p:notesSz cx="6858000" cy="9144000"/>
  <p:embeddedFontLst>
    <p:embeddedFont>
      <p:font typeface="Inter SemiBold"/>
      <p:regular r:id="rId29"/>
      <p:bold r:id="rId30"/>
      <p:italic r:id="rId31"/>
      <p:boldItalic r:id="rId32"/>
    </p:embeddedFont>
    <p:embeddedFont>
      <p:font typeface="Inter"/>
      <p:regular r:id="rId33"/>
      <p:bold r:id="rId34"/>
      <p:italic r:id="rId35"/>
      <p:boldItalic r:id="rId36"/>
    </p:embeddedFont>
    <p:embeddedFont>
      <p:font typeface="JetBrains Mono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539B1FE-CE84-4ECC-8EF6-521FB6EFA7DC}">
  <a:tblStyle styleId="{2539B1FE-CE84-4ECC-8EF6-521FB6EFA7D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JetBrainsMono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InterSemiBol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InterSemiBold-italic.fntdata"/><Relationship Id="rId30" Type="http://schemas.openxmlformats.org/officeDocument/2006/relationships/font" Target="fonts/InterSemiBold-bold.fntdata"/><Relationship Id="rId11" Type="http://schemas.openxmlformats.org/officeDocument/2006/relationships/slide" Target="slides/slide5.xml"/><Relationship Id="rId33" Type="http://schemas.openxmlformats.org/officeDocument/2006/relationships/font" Target="fonts/Inter-regular.fntdata"/><Relationship Id="rId10" Type="http://schemas.openxmlformats.org/officeDocument/2006/relationships/slide" Target="slides/slide4.xml"/><Relationship Id="rId32" Type="http://schemas.openxmlformats.org/officeDocument/2006/relationships/font" Target="fonts/InterSemiBold-boldItalic.fntdata"/><Relationship Id="rId13" Type="http://schemas.openxmlformats.org/officeDocument/2006/relationships/slide" Target="slides/slide7.xml"/><Relationship Id="rId35" Type="http://schemas.openxmlformats.org/officeDocument/2006/relationships/font" Target="fonts/Inter-italic.fntdata"/><Relationship Id="rId12" Type="http://schemas.openxmlformats.org/officeDocument/2006/relationships/slide" Target="slides/slide6.xml"/><Relationship Id="rId34" Type="http://schemas.openxmlformats.org/officeDocument/2006/relationships/font" Target="fonts/Inter-bold.fntdata"/><Relationship Id="rId15" Type="http://schemas.openxmlformats.org/officeDocument/2006/relationships/slide" Target="slides/slide9.xml"/><Relationship Id="rId37" Type="http://schemas.openxmlformats.org/officeDocument/2006/relationships/font" Target="fonts/JetBrainsMono-regular.fntdata"/><Relationship Id="rId14" Type="http://schemas.openxmlformats.org/officeDocument/2006/relationships/slide" Target="slides/slide8.xml"/><Relationship Id="rId36" Type="http://schemas.openxmlformats.org/officeDocument/2006/relationships/font" Target="fonts/Inter-boldItalic.fntdata"/><Relationship Id="rId17" Type="http://schemas.openxmlformats.org/officeDocument/2006/relationships/slide" Target="slides/slide11.xml"/><Relationship Id="rId39" Type="http://schemas.openxmlformats.org/officeDocument/2006/relationships/font" Target="fonts/JetBrainsMono-italic.fntdata"/><Relationship Id="rId16" Type="http://schemas.openxmlformats.org/officeDocument/2006/relationships/slide" Target="slides/slide10.xml"/><Relationship Id="rId38" Type="http://schemas.openxmlformats.org/officeDocument/2006/relationships/font" Target="fonts/JetBrainsMono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fa80415ac6_1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fa80415ac6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9" Type="http://schemas.openxmlformats.org/officeDocument/2006/relationships/image" Target="../media/image7.png"/><Relationship Id="rId5" Type="http://schemas.openxmlformats.org/officeDocument/2006/relationships/image" Target="../media/image21.png"/><Relationship Id="rId6" Type="http://schemas.openxmlformats.org/officeDocument/2006/relationships/image" Target="../media/image9.png"/><Relationship Id="rId7" Type="http://schemas.openxmlformats.org/officeDocument/2006/relationships/image" Target="../media/image3.png"/><Relationship Id="rId8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12.png"/><Relationship Id="rId5" Type="http://schemas.openxmlformats.org/officeDocument/2006/relationships/image" Target="../media/image8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23.png"/><Relationship Id="rId5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0.png"/><Relationship Id="rId9" Type="http://schemas.openxmlformats.org/officeDocument/2006/relationships/image" Target="../media/image26.png"/><Relationship Id="rId5" Type="http://schemas.openxmlformats.org/officeDocument/2006/relationships/image" Target="../media/image10.png"/><Relationship Id="rId6" Type="http://schemas.openxmlformats.org/officeDocument/2006/relationships/image" Target="../media/image22.png"/><Relationship Id="rId7" Type="http://schemas.openxmlformats.org/officeDocument/2006/relationships/image" Target="../media/image11.png"/><Relationship Id="rId8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17.png"/><Relationship Id="rId10" Type="http://schemas.openxmlformats.org/officeDocument/2006/relationships/image" Target="../media/image27.png"/><Relationship Id="rId9" Type="http://schemas.openxmlformats.org/officeDocument/2006/relationships/image" Target="../media/image25.png"/><Relationship Id="rId5" Type="http://schemas.openxmlformats.org/officeDocument/2006/relationships/image" Target="../media/image40.png"/><Relationship Id="rId6" Type="http://schemas.openxmlformats.org/officeDocument/2006/relationships/image" Target="../media/image18.png"/><Relationship Id="rId7" Type="http://schemas.openxmlformats.org/officeDocument/2006/relationships/image" Target="../media/image47.png"/><Relationship Id="rId8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31.png"/><Relationship Id="rId5" Type="http://schemas.openxmlformats.org/officeDocument/2006/relationships/image" Target="../media/image4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9.png"/><Relationship Id="rId9" Type="http://schemas.openxmlformats.org/officeDocument/2006/relationships/image" Target="../media/image34.png"/><Relationship Id="rId5" Type="http://schemas.openxmlformats.org/officeDocument/2006/relationships/image" Target="../media/image29.png"/><Relationship Id="rId6" Type="http://schemas.openxmlformats.org/officeDocument/2006/relationships/image" Target="../media/image24.png"/><Relationship Id="rId7" Type="http://schemas.openxmlformats.org/officeDocument/2006/relationships/image" Target="../media/image37.png"/><Relationship Id="rId8" Type="http://schemas.openxmlformats.org/officeDocument/2006/relationships/image" Target="../media/image3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Relationship Id="rId4" Type="http://schemas.openxmlformats.org/officeDocument/2006/relationships/image" Target="../media/image20.png"/><Relationship Id="rId9" Type="http://schemas.openxmlformats.org/officeDocument/2006/relationships/image" Target="../media/image39.png"/><Relationship Id="rId5" Type="http://schemas.openxmlformats.org/officeDocument/2006/relationships/image" Target="../media/image10.png"/><Relationship Id="rId6" Type="http://schemas.openxmlformats.org/officeDocument/2006/relationships/image" Target="../media/image22.png"/><Relationship Id="rId7" Type="http://schemas.openxmlformats.org/officeDocument/2006/relationships/image" Target="../media/image30.png"/><Relationship Id="rId8" Type="http://schemas.openxmlformats.org/officeDocument/2006/relationships/image" Target="../media/image3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35.png"/><Relationship Id="rId5" Type="http://schemas.openxmlformats.org/officeDocument/2006/relationships/image" Target="../media/image5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Relationship Id="rId4" Type="http://schemas.openxmlformats.org/officeDocument/2006/relationships/image" Target="../media/image50.png"/><Relationship Id="rId5" Type="http://schemas.openxmlformats.org/officeDocument/2006/relationships/image" Target="../media/image4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Relationship Id="rId4" Type="http://schemas.openxmlformats.org/officeDocument/2006/relationships/image" Target="../media/image49.png"/><Relationship Id="rId5" Type="http://schemas.openxmlformats.org/officeDocument/2006/relationships/image" Target="../media/image3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Relationship Id="rId4" Type="http://schemas.openxmlformats.org/officeDocument/2006/relationships/image" Target="../media/image3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Relationship Id="rId4" Type="http://schemas.openxmlformats.org/officeDocument/2006/relationships/image" Target="../media/image4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Relationship Id="rId4" Type="http://schemas.openxmlformats.org/officeDocument/2006/relationships/image" Target="../media/image4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6.png"/><Relationship Id="rId4" Type="http://schemas.openxmlformats.org/officeDocument/2006/relationships/image" Target="../media/image42.png"/><Relationship Id="rId5" Type="http://schemas.openxmlformats.org/officeDocument/2006/relationships/image" Target="../media/image4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6.png"/><Relationship Id="rId4" Type="http://schemas.openxmlformats.org/officeDocument/2006/relationships/image" Target="../media/image4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3110626" y="3024187"/>
            <a:ext cx="5970746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Úvod do databází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0" name="Google Shape;9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85962"/>
            <a:ext cx="2547937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5187" y="1985962"/>
            <a:ext cx="2547937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1985962"/>
            <a:ext cx="2547937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72562" y="1985962"/>
            <a:ext cx="2547937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857250" y="2928937"/>
            <a:ext cx="2075259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Papírové kartotéky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57250" y="3719512"/>
            <a:ext cx="1976437" cy="162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Fyzické šanony a lístky. Pomalé hledání, hrozba ztráty nebo požáru, nulová možnost rychlého sdílení dat.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3690937" y="2928937"/>
            <a:ext cx="2075259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Ploché soubory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3690937" y="3719512"/>
            <a:ext cx="1976437" cy="1357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Éra prvních počítačů. Vše v jedné obří tabulce. Rychle vzniká chaos, duplicita informací a pomalost.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524625" y="2928937"/>
            <a:ext cx="2075259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Relační DB (SQL)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6524625" y="3719512"/>
            <a:ext cx="1976437" cy="1357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Revoluce 70. let (IBM). Data se dělí a propojují chytrými vztahy. Standard a pilíř dnešního IT světa.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358312" y="2928937"/>
            <a:ext cx="206025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Cloud &amp; NoSQL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358312" y="3395662"/>
            <a:ext cx="1976437" cy="1357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Moderní éra. Data fyzicky rozesetá po celém světě, obrovská propustnost, Big Data a sociální sítě.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" y="2309812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90937" y="23098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24625" y="230981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58312" y="2309812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Stručná historie ukládání dat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21693"/>
            <a:ext cx="2547937" cy="35194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05187" y="2121693"/>
            <a:ext cx="2547937" cy="35194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121693"/>
            <a:ext cx="2547937" cy="35194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72562" y="2121693"/>
            <a:ext cx="2547937" cy="351948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857250" y="3064668"/>
            <a:ext cx="2075259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Strukturovaná data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57250" y="3855243"/>
            <a:ext cx="1976437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Uspořádaná sbírka, obvykle bezpečně uložená v počítačovém systému.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3690937" y="3064668"/>
            <a:ext cx="2075259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Souběžný přístup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3690937" y="3855243"/>
            <a:ext cx="1976437" cy="1357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Umožňuje přístup tisícům uživatelů najednou bez poškození dat (např. Instagram).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524625" y="3064668"/>
            <a:ext cx="195024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Rychlé hledání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524625" y="3531393"/>
            <a:ext cx="1976437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Poskytuje extrémně rychlé vyhledávání informací pomocí takzvaných indexů.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9358312" y="3064668"/>
            <a:ext cx="2075259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Záloha &amp; Ochrana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9358312" y="3855243"/>
            <a:ext cx="1976437" cy="1357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Zajišťuje snadné zálohování, konzistenci dat a přísnou ochranu pomocí hesel.</a:t>
            </a:r>
            <a:endParaRPr/>
          </a:p>
        </p:txBody>
      </p:sp>
      <p:pic>
        <p:nvPicPr>
          <p:cNvPr descr="image.png" id="125" name="Google Shape;12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" y="2445543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690937" y="2445543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24625" y="244554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358312" y="2445543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 je to databáze?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4" name="Google Shape;13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35993"/>
            <a:ext cx="5286375" cy="32908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235993"/>
            <a:ext cx="5286375" cy="3290887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952500" y="2616993"/>
            <a:ext cx="47505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Tabulkový procesor (Excel)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715125" y="2616993"/>
            <a:ext cx="47505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Relační Databáze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1228725" y="3090862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1333500" y="3093243"/>
            <a:ext cx="41433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Skvělý pro rychlou analýzu a tvorbu grafů.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1228725" y="3362325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1333500" y="3364706"/>
            <a:ext cx="41433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Limit: Cca 1 milion řádků (při 100 tisících už se nepříjemně zasekává).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1228725" y="3905250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1333500" y="3907631"/>
            <a:ext cx="41433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Problém: Kdyby se do něj snažilo naráz zapsat 100 lidí, soubor se pravděpodobně poškodí.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1228725" y="4448175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1333500" y="4450556"/>
            <a:ext cx="41433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Pravidla pro data lze obejít nebo text omylem smazat.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6991350" y="3090862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7096125" y="3093243"/>
            <a:ext cx="41433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Navržená přímo k bezpečnému ukládání.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991350" y="3362325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7096125" y="3364706"/>
            <a:ext cx="41433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Limit: Téměř neomezená kapacita (miliardy řádků v řádu milisekund).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6991350" y="3905250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7096125" y="3907631"/>
            <a:ext cx="41433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Výhoda: Zvládne 10 000+ uživatelů zapisujících zcela současně.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6991350" y="4448175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7096125" y="4450556"/>
            <a:ext cx="41433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Striktní pravidla (pokud definujeme, že se zadává věk, nedovolí vložit text "Pepa").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Excel vs RDB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571500" y="2690812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 to znamená?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571500" y="3157537"/>
            <a:ext cx="5286375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Systém řízení báze dat (DBMS) je speciální software. Funguje jako prostředník mezi uživatelem (nebo programátorem) a samotnými daty na disku.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571500" y="4114800"/>
            <a:ext cx="5286375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Stará se o to, abyste data mohli bezpečně číst a zapisovat, aniž byste museli znát jejich fyzické umístění na discích serveru.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6334125" y="2690812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Příklady z praxe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6610350" y="3164681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6715125" y="3167062"/>
            <a:ext cx="49053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MySQL / MariaDB: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Velmi oblíbené pro weby (běží na nich např. WordPress).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6610350" y="3707606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6715125" y="3709987"/>
            <a:ext cx="49053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PostgreSQL: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Pokročilý systém pro komplexní aplikace.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610350" y="3979068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6715125" y="3981450"/>
            <a:ext cx="49053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SQLite: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Malé lokální databáze přímo ve vašem mobilu.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6610350" y="4250531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6715125" y="4252912"/>
            <a:ext cx="49053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Oracle / MS SQL: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Robustní (a velmi drahá) řešení pro obří korporace a banky.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DBMS (SŘDB)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8" name="Google Shape;178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5619750" y="2764631"/>
            <a:ext cx="9525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3225641" y="3088481"/>
            <a:ext cx="5740717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Část 1: Architektura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5091112" y="3964781"/>
            <a:ext cx="20097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Jak navrhnout databázi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83618"/>
            <a:ext cx="3492549" cy="31956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283618"/>
            <a:ext cx="3492549" cy="31956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283618"/>
            <a:ext cx="3492549" cy="3195637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19"/>
          <p:cNvSpPr txBox="1"/>
          <p:nvPr/>
        </p:nvSpPr>
        <p:spPr>
          <a:xfrm>
            <a:off x="857250" y="3226593"/>
            <a:ext cx="236029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1. Tabulka (Entita)</a:t>
            </a:r>
            <a:endParaRPr/>
          </a:p>
        </p:txBody>
      </p:sp>
      <p:sp>
        <p:nvSpPr>
          <p:cNvPr id="191" name="Google Shape;191;p19"/>
          <p:cNvSpPr txBox="1"/>
          <p:nvPr/>
        </p:nvSpPr>
        <p:spPr>
          <a:xfrm>
            <a:off x="857250" y="3693318"/>
            <a:ext cx="2921049" cy="1357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Zastupuje jeden druh objektů z reálného světa, o kterých chceme evidovat data. Příkladem může být celá tabulka "Studenti" nebo "Knihy".</a:t>
            </a:r>
            <a:endParaRPr/>
          </a:p>
        </p:txBody>
      </p:sp>
      <p:sp>
        <p:nvSpPr>
          <p:cNvPr id="192" name="Google Shape;192;p19"/>
          <p:cNvSpPr txBox="1"/>
          <p:nvPr/>
        </p:nvSpPr>
        <p:spPr>
          <a:xfrm>
            <a:off x="4635549" y="3226593"/>
            <a:ext cx="251031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2. Záznam (Řádek)</a:t>
            </a:r>
            <a:endParaRPr/>
          </a:p>
        </p:txBody>
      </p:sp>
      <p:sp>
        <p:nvSpPr>
          <p:cNvPr id="193" name="Google Shape;193;p19"/>
          <p:cNvSpPr txBox="1"/>
          <p:nvPr/>
        </p:nvSpPr>
        <p:spPr>
          <a:xfrm>
            <a:off x="4635549" y="3693318"/>
            <a:ext cx="2921049" cy="1357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Jeden konkrétní exemplář dané entity. V tabulce studentů tvoří jeden řádek kompletní informace o jednom žákovi (např. celý profil žáka Jan Novák).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8413849" y="3226593"/>
            <a:ext cx="209026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3. Pole (Atribut)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8413849" y="3693318"/>
            <a:ext cx="2921049" cy="1357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Jednotlivý sloupec tabulky. Definuje konkrétní vlastnost, kterou u každého záznamu sledujeme (např. pouze vlastnost "Jméno", "Věk" či "Email").</a:t>
            </a:r>
            <a:endParaRPr/>
          </a:p>
        </p:txBody>
      </p:sp>
      <p:pic>
        <p:nvPicPr>
          <p:cNvPr descr="image.png" id="196" name="Google Shape;196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260746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35549" y="260746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8" name="Google Shape;198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13849" y="2607468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9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Tři základní pojmy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85962"/>
            <a:ext cx="2400300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57550" y="1985962"/>
            <a:ext cx="2400300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43600" y="1985962"/>
            <a:ext cx="2400300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29650" y="1985962"/>
            <a:ext cx="29908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0"/>
          <p:cNvSpPr txBox="1"/>
          <p:nvPr/>
        </p:nvSpPr>
        <p:spPr>
          <a:xfrm>
            <a:off x="857250" y="2928937"/>
            <a:ext cx="192024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INT (Celá čísla)</a:t>
            </a:r>
            <a:endParaRPr/>
          </a:p>
        </p:txBody>
      </p:sp>
      <p:sp>
        <p:nvSpPr>
          <p:cNvPr id="210" name="Google Shape;210;p20"/>
          <p:cNvSpPr txBox="1"/>
          <p:nvPr/>
        </p:nvSpPr>
        <p:spPr>
          <a:xfrm>
            <a:off x="857250" y="3719512"/>
            <a:ext cx="1828800" cy="1357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Typicky pro identifikátory, počet kusů na skladě, věk nebo počet lajků u fotky.</a:t>
            </a:r>
            <a:endParaRPr/>
          </a:p>
        </p:txBody>
      </p:sp>
      <p:sp>
        <p:nvSpPr>
          <p:cNvPr id="211" name="Google Shape;211;p20"/>
          <p:cNvSpPr txBox="1"/>
          <p:nvPr/>
        </p:nvSpPr>
        <p:spPr>
          <a:xfrm>
            <a:off x="3543300" y="2928937"/>
            <a:ext cx="192024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VARCHAR (Text)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3543300" y="3719512"/>
            <a:ext cx="1828800" cy="162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Slouží pro jména, hesla, emaily nebo adresy. Označujeme maximální délku (např. VARCHAR(50) = max 50 znaků).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6229350" y="2928937"/>
            <a:ext cx="1920240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DATE / DATETIME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6229350" y="3719512"/>
            <a:ext cx="1828800" cy="1628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Uchovává přesné kalendářní datum a čas. Databáze pak umí spočítat např. "kdo se registroval za poslední měsíc".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8915400" y="2928937"/>
            <a:ext cx="2540317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BOOLEAN (Pravda/Nepravda)</a:t>
            </a:r>
            <a:endParaRPr/>
          </a:p>
        </p:txBody>
      </p:sp>
      <p:sp>
        <p:nvSpPr>
          <p:cNvPr id="216" name="Google Shape;216;p20"/>
          <p:cNvSpPr txBox="1"/>
          <p:nvPr/>
        </p:nvSpPr>
        <p:spPr>
          <a:xfrm>
            <a:off x="8915400" y="3719512"/>
            <a:ext cx="2419350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Jednoduché přepínače 1/0. Ideální pro sloupce jako Odebira_Newsletter.</a:t>
            </a:r>
            <a:endParaRPr/>
          </a:p>
        </p:txBody>
      </p:sp>
      <p:pic>
        <p:nvPicPr>
          <p:cNvPr descr="image.png" id="217" name="Google Shape;217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230981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543300" y="230981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29350" y="230981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915400" y="2309812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0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Základní datové typy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6" name="Google Shape;22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14562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1"/>
          <p:cNvSpPr txBox="1"/>
          <p:nvPr/>
        </p:nvSpPr>
        <p:spPr>
          <a:xfrm>
            <a:off x="571500" y="2214562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Nejpoužívanější typ databází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571500" y="2681287"/>
            <a:ext cx="5286375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Dnes jde o absolutně nejpoužívanější typ databází. Data se úmyslně neukládají do jedné obří a nepřehledné tabulky (to by vedlo k duplicitám a chybám), ale do mnoha menších, smysluplných částí.</a:t>
            </a:r>
            <a:endParaRPr/>
          </a:p>
        </p:txBody>
      </p:sp>
      <p:sp>
        <p:nvSpPr>
          <p:cNvPr id="230" name="Google Shape;230;p21"/>
          <p:cNvSpPr txBox="1"/>
          <p:nvPr/>
        </p:nvSpPr>
        <p:spPr>
          <a:xfrm>
            <a:off x="571500" y="4052887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Efektivní relace a vztahy</a:t>
            </a:r>
            <a:endParaRPr/>
          </a:p>
        </p:txBody>
      </p:sp>
      <p:sp>
        <p:nvSpPr>
          <p:cNvPr id="231" name="Google Shape;231;p21"/>
          <p:cNvSpPr txBox="1"/>
          <p:nvPr/>
        </p:nvSpPr>
        <p:spPr>
          <a:xfrm>
            <a:off x="571500" y="4519612"/>
            <a:ext cx="5286375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Tyto tabulky se následně propojují – tvoří relace (vztahy). Změní-li se jméno učitele, změní se jen na jednom místě v databázi, ale projeví se to u všech jeho tříd automaticky.</a:t>
            </a:r>
            <a:endParaRPr/>
          </a:p>
        </p:txBody>
      </p:sp>
      <p:pic>
        <p:nvPicPr>
          <p:cNvPr descr="image.png" id="232" name="Google Shape;23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214562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Relační model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21693"/>
            <a:ext cx="3492549" cy="35194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121693"/>
            <a:ext cx="3492549" cy="35194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1" name="Google Shape;241;p2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121693"/>
            <a:ext cx="3492549" cy="3519487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2"/>
          <p:cNvSpPr txBox="1"/>
          <p:nvPr/>
        </p:nvSpPr>
        <p:spPr>
          <a:xfrm>
            <a:off x="857250" y="3064668"/>
            <a:ext cx="265033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1:1 (Jedna ku jedné)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857250" y="3531393"/>
            <a:ext cx="2921049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Vzácný typ vztahu. Jeden záznam odpovídá právě jednomu jinému. Příklad: Jeden občan = jeden platný občanský průkaz.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4635549" y="3064668"/>
            <a:ext cx="291036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1:N (Jedna ku mnoha)</a:t>
            </a:r>
            <a:endParaRPr/>
          </a:p>
        </p:txBody>
      </p:sp>
      <p:sp>
        <p:nvSpPr>
          <p:cNvPr id="245" name="Google Shape;245;p22"/>
          <p:cNvSpPr txBox="1"/>
          <p:nvPr/>
        </p:nvSpPr>
        <p:spPr>
          <a:xfrm>
            <a:off x="4635549" y="3531393"/>
            <a:ext cx="2921049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Nejčastější typ vazby! Jedna věc se odkazuje na mnoho věcí. Příklad: Jeden učitel vyučuje mnoho předmětů.</a:t>
            </a:r>
            <a:endParaRPr/>
          </a:p>
        </p:txBody>
      </p:sp>
      <p:sp>
        <p:nvSpPr>
          <p:cNvPr id="246" name="Google Shape;246;p22"/>
          <p:cNvSpPr txBox="1"/>
          <p:nvPr/>
        </p:nvSpPr>
        <p:spPr>
          <a:xfrm>
            <a:off x="8413849" y="3064668"/>
            <a:ext cx="3067102" cy="6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M:N (Mnoho ku mnoha)</a:t>
            </a:r>
            <a:endParaRPr/>
          </a:p>
        </p:txBody>
      </p:sp>
      <p:sp>
        <p:nvSpPr>
          <p:cNvPr id="247" name="Google Shape;247;p22"/>
          <p:cNvSpPr txBox="1"/>
          <p:nvPr/>
        </p:nvSpPr>
        <p:spPr>
          <a:xfrm>
            <a:off x="8413849" y="3855243"/>
            <a:ext cx="2921049" cy="1357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Složitější vazba. Řeší se vytvořením třetí propojovací tabulky. Příklad: Student chodí na víc kroužků a na jeden kroužek chodí víc studentů.</a:t>
            </a:r>
            <a:endParaRPr/>
          </a:p>
        </p:txBody>
      </p:sp>
      <p:pic>
        <p:nvPicPr>
          <p:cNvPr descr="image.png" id="248" name="Google Shape;248;p2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2445543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35549" y="2445543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0" name="Google Shape;250;p2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13849" y="2445543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Typy vztahů (Relací)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6" name="Google Shape;256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3"/>
          <p:cNvSpPr txBox="1"/>
          <p:nvPr/>
        </p:nvSpPr>
        <p:spPr>
          <a:xfrm>
            <a:off x="571500" y="2095500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Primární klíč (PK)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571500" y="2562225"/>
            <a:ext cx="5286375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Jedinečný identifikátor každého řádku (např. ID_Studenta = 1). Nikdy se nesmí u dvou řádků opakovat! Funguje jako rodné číslo záznamu.</a:t>
            </a:r>
            <a:endParaRPr/>
          </a:p>
        </p:txBody>
      </p:sp>
      <p:sp>
        <p:nvSpPr>
          <p:cNvPr id="259" name="Google Shape;259;p23"/>
          <p:cNvSpPr txBox="1"/>
          <p:nvPr/>
        </p:nvSpPr>
        <p:spPr>
          <a:xfrm>
            <a:off x="571500" y="3662362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Cizí klíč (FK)</a:t>
            </a:r>
            <a:endParaRPr/>
          </a:p>
        </p:txBody>
      </p:sp>
      <p:sp>
        <p:nvSpPr>
          <p:cNvPr id="260" name="Google Shape;260;p23"/>
          <p:cNvSpPr txBox="1"/>
          <p:nvPr/>
        </p:nvSpPr>
        <p:spPr>
          <a:xfrm>
            <a:off x="571500" y="4129087"/>
            <a:ext cx="52863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Je to odkaz na primární klíč umístěný v úplně jiné tabulce. Tímto způsobem vznikají vazby (relace) mezi daty.</a:t>
            </a:r>
            <a:endParaRPr/>
          </a:p>
        </p:txBody>
      </p:sp>
      <p:sp>
        <p:nvSpPr>
          <p:cNvPr id="261" name="Google Shape;261;p23"/>
          <p:cNvSpPr/>
          <p:nvPr/>
        </p:nvSpPr>
        <p:spPr>
          <a:xfrm>
            <a:off x="6334125" y="2095500"/>
            <a:ext cx="5286375" cy="3571875"/>
          </a:xfrm>
          <a:prstGeom prst="roundRect">
            <a:avLst>
              <a:gd fmla="val 0" name="adj"/>
            </a:avLst>
          </a:prstGeom>
          <a:solidFill>
            <a:srgbClr val="2D3748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62" name="Google Shape;262;p23"/>
          <p:cNvGraphicFramePr/>
          <p:nvPr/>
        </p:nvGraphicFramePr>
        <p:xfrm>
          <a:off x="6334125" y="20955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{2539B1FE-CE84-4ECC-8EF6-521FB6EFA7DC}</a:tableStyleId>
              </a:tblPr>
              <a:tblGrid>
                <a:gridCol w="1743075"/>
                <a:gridCol w="1057275"/>
                <a:gridCol w="1428750"/>
                <a:gridCol w="1057275"/>
              </a:tblGrid>
              <a:tr h="71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8FAFC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ID_Student (PK)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8FAFC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Jméno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8FAFC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Příjmení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8FAFC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Ročník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02C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Jan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Novák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5568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Eva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Svobodová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5568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Tomáš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Dvořák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5568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Klára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Malá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5568"/>
                    </a:solidFill>
                  </a:tcPr>
                </a:tc>
              </a:tr>
            </a:tbl>
          </a:graphicData>
        </a:graphic>
      </p:graphicFrame>
      <p:sp>
        <p:nvSpPr>
          <p:cNvPr id="263" name="Google Shape;263;p23"/>
          <p:cNvSpPr/>
          <p:nvPr/>
        </p:nvSpPr>
        <p:spPr>
          <a:xfrm>
            <a:off x="6334125" y="3014662"/>
            <a:ext cx="1743075" cy="95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3"/>
          <p:cNvSpPr/>
          <p:nvPr/>
        </p:nvSpPr>
        <p:spPr>
          <a:xfrm>
            <a:off x="8077200" y="3014662"/>
            <a:ext cx="1057275" cy="95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3"/>
          <p:cNvSpPr/>
          <p:nvPr/>
        </p:nvSpPr>
        <p:spPr>
          <a:xfrm>
            <a:off x="9134475" y="3014662"/>
            <a:ext cx="1428750" cy="95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3"/>
          <p:cNvSpPr/>
          <p:nvPr/>
        </p:nvSpPr>
        <p:spPr>
          <a:xfrm>
            <a:off x="10563225" y="3014662"/>
            <a:ext cx="1057275" cy="95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3"/>
          <p:cNvSpPr/>
          <p:nvPr/>
        </p:nvSpPr>
        <p:spPr>
          <a:xfrm>
            <a:off x="6334125" y="3676650"/>
            <a:ext cx="1743075" cy="95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3"/>
          <p:cNvSpPr/>
          <p:nvPr/>
        </p:nvSpPr>
        <p:spPr>
          <a:xfrm>
            <a:off x="8077200" y="3676650"/>
            <a:ext cx="1057275" cy="95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9134475" y="3676650"/>
            <a:ext cx="1428750" cy="95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10563225" y="3676650"/>
            <a:ext cx="1057275" cy="95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6334125" y="4338637"/>
            <a:ext cx="1743075" cy="95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23"/>
          <p:cNvSpPr/>
          <p:nvPr/>
        </p:nvSpPr>
        <p:spPr>
          <a:xfrm>
            <a:off x="8077200" y="4338637"/>
            <a:ext cx="1057275" cy="95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9134475" y="4338637"/>
            <a:ext cx="1428750" cy="95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23"/>
          <p:cNvSpPr/>
          <p:nvPr/>
        </p:nvSpPr>
        <p:spPr>
          <a:xfrm>
            <a:off x="10563225" y="4338637"/>
            <a:ext cx="1057275" cy="95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23"/>
          <p:cNvSpPr/>
          <p:nvPr/>
        </p:nvSpPr>
        <p:spPr>
          <a:xfrm>
            <a:off x="6334125" y="5000625"/>
            <a:ext cx="1743075" cy="95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23"/>
          <p:cNvSpPr/>
          <p:nvPr/>
        </p:nvSpPr>
        <p:spPr>
          <a:xfrm>
            <a:off x="8077200" y="5000625"/>
            <a:ext cx="1057275" cy="95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23"/>
          <p:cNvSpPr/>
          <p:nvPr/>
        </p:nvSpPr>
        <p:spPr>
          <a:xfrm>
            <a:off x="9134475" y="5000625"/>
            <a:ext cx="1428750" cy="95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3"/>
          <p:cNvSpPr/>
          <p:nvPr/>
        </p:nvSpPr>
        <p:spPr>
          <a:xfrm>
            <a:off x="10563225" y="5000625"/>
            <a:ext cx="1057275" cy="952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3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Klíče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4" name="Google Shape;28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83618"/>
            <a:ext cx="3492549" cy="31956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6" name="Google Shape;28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283618"/>
            <a:ext cx="3492549" cy="31956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7" name="Google Shape;287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283618"/>
            <a:ext cx="3492549" cy="3195637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4"/>
          <p:cNvSpPr txBox="1"/>
          <p:nvPr/>
        </p:nvSpPr>
        <p:spPr>
          <a:xfrm>
            <a:off x="857250" y="3226593"/>
            <a:ext cx="219027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1. Návrh předem</a:t>
            </a:r>
            <a:endParaRPr/>
          </a:p>
        </p:txBody>
      </p:sp>
      <p:sp>
        <p:nvSpPr>
          <p:cNvPr id="289" name="Google Shape;289;p24"/>
          <p:cNvSpPr txBox="1"/>
          <p:nvPr/>
        </p:nvSpPr>
        <p:spPr>
          <a:xfrm>
            <a:off x="857250" y="3693318"/>
            <a:ext cx="2921049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Předtím, než začneme databázi realizovat, musíme ji navrhnout. Omyl ve struktuře se později opravuje neuvěřitelně těžko.</a:t>
            </a:r>
            <a:endParaRPr/>
          </a:p>
        </p:txBody>
      </p:sp>
      <p:sp>
        <p:nvSpPr>
          <p:cNvPr id="290" name="Google Shape;290;p24"/>
          <p:cNvSpPr txBox="1"/>
          <p:nvPr/>
        </p:nvSpPr>
        <p:spPr>
          <a:xfrm>
            <a:off x="4635549" y="3226593"/>
            <a:ext cx="187023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2. ER Diagram</a:t>
            </a:r>
            <a:endParaRPr/>
          </a:p>
        </p:txBody>
      </p:sp>
      <p:sp>
        <p:nvSpPr>
          <p:cNvPr id="291" name="Google Shape;291;p24"/>
          <p:cNvSpPr txBox="1"/>
          <p:nvPr/>
        </p:nvSpPr>
        <p:spPr>
          <a:xfrm>
            <a:off x="4635549" y="3693318"/>
            <a:ext cx="2921049" cy="13573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 vizualizaci databázové struktury a jejích relací standardně používáme přehledný ER Diagram (Entity-Relationship Diagram).</a:t>
            </a:r>
            <a:endParaRPr/>
          </a:p>
        </p:txBody>
      </p:sp>
      <p:sp>
        <p:nvSpPr>
          <p:cNvPr id="292" name="Google Shape;292;p24"/>
          <p:cNvSpPr txBox="1"/>
          <p:nvPr/>
        </p:nvSpPr>
        <p:spPr>
          <a:xfrm>
            <a:off x="8413849" y="3226593"/>
            <a:ext cx="1930241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3. Jako plánek</a:t>
            </a:r>
            <a:endParaRPr/>
          </a:p>
        </p:txBody>
      </p:sp>
      <p:sp>
        <p:nvSpPr>
          <p:cNvPr id="293" name="Google Shape;293;p24"/>
          <p:cNvSpPr txBox="1"/>
          <p:nvPr/>
        </p:nvSpPr>
        <p:spPr>
          <a:xfrm>
            <a:off x="8413849" y="3693318"/>
            <a:ext cx="2921049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Funguje to naprosto stejně jako architektonický plánek pro stavbaře. Zajišťuje, že všichni vývojáři chápou strukturu stejně.</a:t>
            </a:r>
            <a:endParaRPr/>
          </a:p>
        </p:txBody>
      </p:sp>
      <p:pic>
        <p:nvPicPr>
          <p:cNvPr descr="image.png" id="294" name="Google Shape;294;p2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2607468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5" name="Google Shape;295;p2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35549" y="2607468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6" name="Google Shape;296;p2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13849" y="2607468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Návrh databáze: ERD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2" name="Google Shape;30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5"/>
          <p:cNvSpPr/>
          <p:nvPr/>
        </p:nvSpPr>
        <p:spPr>
          <a:xfrm>
            <a:off x="5619750" y="2764631"/>
            <a:ext cx="95250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5"/>
          <p:cNvSpPr txBox="1"/>
          <p:nvPr/>
        </p:nvSpPr>
        <p:spPr>
          <a:xfrm>
            <a:off x="2115502" y="3088481"/>
            <a:ext cx="7960995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Část 2: Jazyk SQL a NoSQL</a:t>
            </a:r>
            <a:endParaRPr/>
          </a:p>
        </p:txBody>
      </p:sp>
      <p:sp>
        <p:nvSpPr>
          <p:cNvPr id="305" name="Google Shape;305;p25"/>
          <p:cNvSpPr txBox="1"/>
          <p:nvPr/>
        </p:nvSpPr>
        <p:spPr>
          <a:xfrm>
            <a:off x="2824162" y="3964781"/>
            <a:ext cx="65436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Když už máme architekturu navrženou, jak z databáze vytáhnout informace?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0" name="Google Shape;31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1" name="Google Shape;31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00287"/>
            <a:ext cx="5286375" cy="3162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300287"/>
            <a:ext cx="5286375" cy="31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6"/>
          <p:cNvSpPr txBox="1"/>
          <p:nvPr/>
        </p:nvSpPr>
        <p:spPr>
          <a:xfrm>
            <a:off x="952500" y="2681287"/>
            <a:ext cx="47505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Co je to SQL?</a:t>
            </a:r>
            <a:endParaRPr/>
          </a:p>
        </p:txBody>
      </p:sp>
      <p:sp>
        <p:nvSpPr>
          <p:cNvPr id="314" name="Google Shape;314;p26"/>
          <p:cNvSpPr txBox="1"/>
          <p:nvPr/>
        </p:nvSpPr>
        <p:spPr>
          <a:xfrm>
            <a:off x="952500" y="3148012"/>
            <a:ext cx="45243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SQL (Structured Query Language) – neboli strukturovaný dotazovací jazyk.</a:t>
            </a:r>
            <a:endParaRPr/>
          </a:p>
        </p:txBody>
      </p:sp>
      <p:sp>
        <p:nvSpPr>
          <p:cNvPr id="315" name="Google Shape;315;p26"/>
          <p:cNvSpPr txBox="1"/>
          <p:nvPr/>
        </p:nvSpPr>
        <p:spPr>
          <a:xfrm>
            <a:off x="952500" y="3833812"/>
            <a:ext cx="4524375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Je to celosvětově standardizovaný jazyk, jehož prostřednictvím komunikujeme s relační databází. Tímto jazykem jí doslova říkáme, jaká data od ní chceme vydat nebo uložit.</a:t>
            </a:r>
            <a:endParaRPr/>
          </a:p>
        </p:txBody>
      </p:sp>
      <p:sp>
        <p:nvSpPr>
          <p:cNvPr id="316" name="Google Shape;316;p26"/>
          <p:cNvSpPr txBox="1"/>
          <p:nvPr/>
        </p:nvSpPr>
        <p:spPr>
          <a:xfrm>
            <a:off x="6715125" y="2681287"/>
            <a:ext cx="47505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Magická čtyřka CRUD</a:t>
            </a:r>
            <a:endParaRPr/>
          </a:p>
        </p:txBody>
      </p:sp>
      <p:sp>
        <p:nvSpPr>
          <p:cNvPr id="317" name="Google Shape;317;p26"/>
          <p:cNvSpPr txBox="1"/>
          <p:nvPr/>
        </p:nvSpPr>
        <p:spPr>
          <a:xfrm>
            <a:off x="6715125" y="3148012"/>
            <a:ext cx="45243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Veškerá práce s daty se točí kolem čtyř operací, kterým říkáme CRUD:</a:t>
            </a:r>
            <a:endParaRPr/>
          </a:p>
        </p:txBody>
      </p:sp>
      <p:sp>
        <p:nvSpPr>
          <p:cNvPr id="318" name="Google Shape;318;p26"/>
          <p:cNvSpPr txBox="1"/>
          <p:nvPr/>
        </p:nvSpPr>
        <p:spPr>
          <a:xfrm>
            <a:off x="6991350" y="3840956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19" name="Google Shape;319;p26"/>
          <p:cNvSpPr txBox="1"/>
          <p:nvPr/>
        </p:nvSpPr>
        <p:spPr>
          <a:xfrm>
            <a:off x="7096125" y="3843337"/>
            <a:ext cx="41433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reate = Vložit nová data (INSERT)</a:t>
            </a:r>
            <a:endParaRPr/>
          </a:p>
        </p:txBody>
      </p:sp>
      <p:sp>
        <p:nvSpPr>
          <p:cNvPr id="320" name="Google Shape;320;p26"/>
          <p:cNvSpPr txBox="1"/>
          <p:nvPr/>
        </p:nvSpPr>
        <p:spPr>
          <a:xfrm>
            <a:off x="6991350" y="4112418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1" name="Google Shape;321;p26"/>
          <p:cNvSpPr txBox="1"/>
          <p:nvPr/>
        </p:nvSpPr>
        <p:spPr>
          <a:xfrm>
            <a:off x="7096125" y="4114800"/>
            <a:ext cx="41433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ead = Číst a vyhledávat (SELECT)</a:t>
            </a:r>
            <a:endParaRPr/>
          </a:p>
        </p:txBody>
      </p:sp>
      <p:sp>
        <p:nvSpPr>
          <p:cNvPr id="322" name="Google Shape;322;p26"/>
          <p:cNvSpPr txBox="1"/>
          <p:nvPr/>
        </p:nvSpPr>
        <p:spPr>
          <a:xfrm>
            <a:off x="6991350" y="4383881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3" name="Google Shape;323;p26"/>
          <p:cNvSpPr txBox="1"/>
          <p:nvPr/>
        </p:nvSpPr>
        <p:spPr>
          <a:xfrm>
            <a:off x="7096125" y="4386262"/>
            <a:ext cx="41433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U</a:t>
            </a: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pdate = Upravit data (UPDATE)</a:t>
            </a:r>
            <a:endParaRPr/>
          </a:p>
        </p:txBody>
      </p:sp>
      <p:sp>
        <p:nvSpPr>
          <p:cNvPr id="324" name="Google Shape;324;p26"/>
          <p:cNvSpPr txBox="1"/>
          <p:nvPr/>
        </p:nvSpPr>
        <p:spPr>
          <a:xfrm>
            <a:off x="6991350" y="4655343"/>
            <a:ext cx="10477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325" name="Google Shape;325;p26"/>
          <p:cNvSpPr txBox="1"/>
          <p:nvPr/>
        </p:nvSpPr>
        <p:spPr>
          <a:xfrm>
            <a:off x="7096125" y="4657725"/>
            <a:ext cx="4143375" cy="271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</a:t>
            </a: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elete = Smazat data (DELETE)</a:t>
            </a:r>
            <a:endParaRPr/>
          </a:p>
        </p:txBody>
      </p:sp>
      <p:sp>
        <p:nvSpPr>
          <p:cNvPr id="326" name="Google Shape;326;p26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Úvod do jazyka SQL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1" name="Google Shape;331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050506"/>
            <a:ext cx="5286375" cy="1085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3" name="Google Shape;33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4050506"/>
            <a:ext cx="5286375" cy="10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27"/>
          <p:cNvSpPr txBox="1"/>
          <p:nvPr/>
        </p:nvSpPr>
        <p:spPr>
          <a:xfrm>
            <a:off x="571500" y="2626518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Základní výběr (SELECT)</a:t>
            </a:r>
            <a:endParaRPr/>
          </a:p>
        </p:txBody>
      </p:sp>
      <p:sp>
        <p:nvSpPr>
          <p:cNvPr id="335" name="Google Shape;335;p27"/>
          <p:cNvSpPr txBox="1"/>
          <p:nvPr/>
        </p:nvSpPr>
        <p:spPr>
          <a:xfrm>
            <a:off x="571500" y="3093243"/>
            <a:ext cx="5286375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Příkazem určujeme, z jaké tabulky chceme data a jaké konkrétní sloupce chceme vidět. Tento dotaz vypíše prostý seznam všech jmen a příjmení studentů.</a:t>
            </a:r>
            <a:endParaRPr/>
          </a:p>
        </p:txBody>
      </p:sp>
      <p:sp>
        <p:nvSpPr>
          <p:cNvPr id="336" name="Google Shape;336;p27"/>
          <p:cNvSpPr txBox="1"/>
          <p:nvPr/>
        </p:nvSpPr>
        <p:spPr>
          <a:xfrm>
            <a:off x="6334125" y="2626518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Filtrování (WHERE)</a:t>
            </a:r>
            <a:endParaRPr/>
          </a:p>
        </p:txBody>
      </p:sp>
      <p:sp>
        <p:nvSpPr>
          <p:cNvPr id="337" name="Google Shape;337;p27"/>
          <p:cNvSpPr txBox="1"/>
          <p:nvPr/>
        </p:nvSpPr>
        <p:spPr>
          <a:xfrm>
            <a:off x="6334125" y="3093243"/>
            <a:ext cx="5286375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Když hledáme něco konkrétního (např. v milionech řádků), použijeme podmínku WHERE. Hvězdička (*) znamená "všechny sloupce".</a:t>
            </a:r>
            <a:endParaRPr/>
          </a:p>
        </p:txBody>
      </p:sp>
      <p:sp>
        <p:nvSpPr>
          <p:cNvPr id="338" name="Google Shape;338;p27"/>
          <p:cNvSpPr txBox="1"/>
          <p:nvPr/>
        </p:nvSpPr>
        <p:spPr>
          <a:xfrm>
            <a:off x="857250" y="4355306"/>
            <a:ext cx="628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SELECT</a:t>
            </a:r>
            <a:endParaRPr/>
          </a:p>
        </p:txBody>
      </p:sp>
      <p:sp>
        <p:nvSpPr>
          <p:cNvPr id="339" name="Google Shape;339;p27"/>
          <p:cNvSpPr txBox="1"/>
          <p:nvPr/>
        </p:nvSpPr>
        <p:spPr>
          <a:xfrm>
            <a:off x="3267075" y="4355306"/>
            <a:ext cx="4191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endParaRPr/>
          </a:p>
        </p:txBody>
      </p:sp>
      <p:sp>
        <p:nvSpPr>
          <p:cNvPr id="340" name="Google Shape;340;p27"/>
          <p:cNvSpPr txBox="1"/>
          <p:nvPr/>
        </p:nvSpPr>
        <p:spPr>
          <a:xfrm>
            <a:off x="6619875" y="4355306"/>
            <a:ext cx="628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SELECT</a:t>
            </a:r>
            <a:endParaRPr/>
          </a:p>
        </p:txBody>
      </p:sp>
      <p:sp>
        <p:nvSpPr>
          <p:cNvPr id="341" name="Google Shape;341;p27"/>
          <p:cNvSpPr txBox="1"/>
          <p:nvPr/>
        </p:nvSpPr>
        <p:spPr>
          <a:xfrm>
            <a:off x="7562850" y="4355306"/>
            <a:ext cx="4191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endParaRPr/>
          </a:p>
        </p:txBody>
      </p:sp>
      <p:sp>
        <p:nvSpPr>
          <p:cNvPr id="342" name="Google Shape;342;p27"/>
          <p:cNvSpPr txBox="1"/>
          <p:nvPr/>
        </p:nvSpPr>
        <p:spPr>
          <a:xfrm>
            <a:off x="9029700" y="4355306"/>
            <a:ext cx="5238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WHERE</a:t>
            </a:r>
            <a:endParaRPr/>
          </a:p>
        </p:txBody>
      </p:sp>
      <p:sp>
        <p:nvSpPr>
          <p:cNvPr id="343" name="Google Shape;343;p27"/>
          <p:cNvSpPr txBox="1"/>
          <p:nvPr/>
        </p:nvSpPr>
        <p:spPr>
          <a:xfrm>
            <a:off x="10601325" y="4355306"/>
            <a:ext cx="1047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3E63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/>
          </a:p>
        </p:txBody>
      </p:sp>
      <p:sp>
        <p:nvSpPr>
          <p:cNvPr id="344" name="Google Shape;344;p27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Píšeme první SQL dotazy (Čtení)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9" name="Google Shape;349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0" name="Google Shape;350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419350"/>
            <a:ext cx="5286375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1" name="Google Shape;351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4467225"/>
            <a:ext cx="52863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8"/>
          <p:cNvSpPr txBox="1"/>
          <p:nvPr/>
        </p:nvSpPr>
        <p:spPr>
          <a:xfrm>
            <a:off x="571500" y="1952625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Měníme stav databáze</a:t>
            </a:r>
            <a:endParaRPr/>
          </a:p>
        </p:txBody>
      </p:sp>
      <p:sp>
        <p:nvSpPr>
          <p:cNvPr id="353" name="Google Shape;353;p28"/>
          <p:cNvSpPr txBox="1"/>
          <p:nvPr/>
        </p:nvSpPr>
        <p:spPr>
          <a:xfrm>
            <a:off x="571500" y="2419350"/>
            <a:ext cx="52863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Čtení dat je pouze začátek. Aplikace neustále přidávají nové uživatele, upravují jejich profily nebo mažou staré záznamy.</a:t>
            </a:r>
            <a:endParaRPr/>
          </a:p>
        </p:txBody>
      </p:sp>
      <p:sp>
        <p:nvSpPr>
          <p:cNvPr id="354" name="Google Shape;354;p28"/>
          <p:cNvSpPr txBox="1"/>
          <p:nvPr/>
        </p:nvSpPr>
        <p:spPr>
          <a:xfrm>
            <a:off x="571500" y="3105150"/>
            <a:ext cx="52863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Zatímco SELECT databázi nemění, pomocí INSERT, UPDATE a DELETE obsah aktivně modifikujeme.</a:t>
            </a:r>
            <a:endParaRPr/>
          </a:p>
        </p:txBody>
      </p:sp>
      <p:sp>
        <p:nvSpPr>
          <p:cNvPr id="355" name="Google Shape;355;p28"/>
          <p:cNvSpPr txBox="1"/>
          <p:nvPr/>
        </p:nvSpPr>
        <p:spPr>
          <a:xfrm>
            <a:off x="6334125" y="1952625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Přidání nového studenta (Create)</a:t>
            </a:r>
            <a:endParaRPr/>
          </a:p>
        </p:txBody>
      </p:sp>
      <p:sp>
        <p:nvSpPr>
          <p:cNvPr id="356" name="Google Shape;356;p28"/>
          <p:cNvSpPr txBox="1"/>
          <p:nvPr/>
        </p:nvSpPr>
        <p:spPr>
          <a:xfrm>
            <a:off x="6334125" y="4000500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Úprava existujícího (Update)</a:t>
            </a:r>
            <a:endParaRPr/>
          </a:p>
        </p:txBody>
      </p:sp>
      <p:sp>
        <p:nvSpPr>
          <p:cNvPr id="357" name="Google Shape;357;p28"/>
          <p:cNvSpPr txBox="1"/>
          <p:nvPr/>
        </p:nvSpPr>
        <p:spPr>
          <a:xfrm>
            <a:off x="6619875" y="2724150"/>
            <a:ext cx="11525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INSERT INTO</a:t>
            </a:r>
            <a:endParaRPr/>
          </a:p>
        </p:txBody>
      </p:sp>
      <p:sp>
        <p:nvSpPr>
          <p:cNvPr id="358" name="Google Shape;358;p28"/>
          <p:cNvSpPr txBox="1"/>
          <p:nvPr/>
        </p:nvSpPr>
        <p:spPr>
          <a:xfrm>
            <a:off x="10496550" y="2724150"/>
            <a:ext cx="628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VALUES</a:t>
            </a:r>
            <a:endParaRPr/>
          </a:p>
        </p:txBody>
      </p:sp>
      <p:sp>
        <p:nvSpPr>
          <p:cNvPr id="359" name="Google Shape;359;p28"/>
          <p:cNvSpPr txBox="1"/>
          <p:nvPr/>
        </p:nvSpPr>
        <p:spPr>
          <a:xfrm>
            <a:off x="6724650" y="2981325"/>
            <a:ext cx="628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3E63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'Petr'</a:t>
            </a:r>
            <a:endParaRPr/>
          </a:p>
        </p:txBody>
      </p:sp>
      <p:sp>
        <p:nvSpPr>
          <p:cNvPr id="360" name="Google Shape;360;p28"/>
          <p:cNvSpPr txBox="1"/>
          <p:nvPr/>
        </p:nvSpPr>
        <p:spPr>
          <a:xfrm>
            <a:off x="7562850" y="2981325"/>
            <a:ext cx="1047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3E63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</a:t>
            </a:r>
            <a:endParaRPr/>
          </a:p>
        </p:txBody>
      </p:sp>
      <p:sp>
        <p:nvSpPr>
          <p:cNvPr id="361" name="Google Shape;361;p28"/>
          <p:cNvSpPr txBox="1"/>
          <p:nvPr/>
        </p:nvSpPr>
        <p:spPr>
          <a:xfrm>
            <a:off x="6619875" y="4772025"/>
            <a:ext cx="628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UPDATE</a:t>
            </a:r>
            <a:endParaRPr/>
          </a:p>
        </p:txBody>
      </p:sp>
      <p:sp>
        <p:nvSpPr>
          <p:cNvPr id="362" name="Google Shape;362;p28"/>
          <p:cNvSpPr txBox="1"/>
          <p:nvPr/>
        </p:nvSpPr>
        <p:spPr>
          <a:xfrm>
            <a:off x="8296275" y="4772025"/>
            <a:ext cx="31432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SET</a:t>
            </a:r>
            <a:endParaRPr/>
          </a:p>
        </p:txBody>
      </p:sp>
      <p:sp>
        <p:nvSpPr>
          <p:cNvPr id="363" name="Google Shape;363;p28"/>
          <p:cNvSpPr txBox="1"/>
          <p:nvPr/>
        </p:nvSpPr>
        <p:spPr>
          <a:xfrm>
            <a:off x="9658350" y="4772025"/>
            <a:ext cx="1047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3E63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</a:t>
            </a:r>
            <a:endParaRPr/>
          </a:p>
        </p:txBody>
      </p:sp>
      <p:sp>
        <p:nvSpPr>
          <p:cNvPr id="364" name="Google Shape;364;p28"/>
          <p:cNvSpPr txBox="1"/>
          <p:nvPr/>
        </p:nvSpPr>
        <p:spPr>
          <a:xfrm>
            <a:off x="9867900" y="4772025"/>
            <a:ext cx="5238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WHERE</a:t>
            </a:r>
            <a:endParaRPr/>
          </a:p>
        </p:txBody>
      </p:sp>
      <p:sp>
        <p:nvSpPr>
          <p:cNvPr id="365" name="Google Shape;365;p28"/>
          <p:cNvSpPr txBox="1"/>
          <p:nvPr/>
        </p:nvSpPr>
        <p:spPr>
          <a:xfrm>
            <a:off x="6619875" y="5029200"/>
            <a:ext cx="628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A3E635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'Petr'</a:t>
            </a:r>
            <a:endParaRPr/>
          </a:p>
        </p:txBody>
      </p:sp>
      <p:sp>
        <p:nvSpPr>
          <p:cNvPr id="366" name="Google Shape;366;p28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Vkládání a úprava dat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1" name="Google Shape;37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2" name="Google Shape;37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293268"/>
            <a:ext cx="52863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29"/>
          <p:cNvSpPr txBox="1"/>
          <p:nvPr/>
        </p:nvSpPr>
        <p:spPr>
          <a:xfrm>
            <a:off x="571500" y="2826543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Analýza a statistiky</a:t>
            </a:r>
            <a:endParaRPr/>
          </a:p>
        </p:txBody>
      </p:sp>
      <p:sp>
        <p:nvSpPr>
          <p:cNvPr id="374" name="Google Shape;374;p29"/>
          <p:cNvSpPr txBox="1"/>
          <p:nvPr/>
        </p:nvSpPr>
        <p:spPr>
          <a:xfrm>
            <a:off x="571500" y="3293268"/>
            <a:ext cx="52863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Databáze umí data nejen ukládat, ale bleskově je analyzovat. Zvládne sečíst hodnoty, vypočítat průměr nebo data seskupit.</a:t>
            </a:r>
            <a:endParaRPr/>
          </a:p>
        </p:txBody>
      </p:sp>
      <p:sp>
        <p:nvSpPr>
          <p:cNvPr id="375" name="Google Shape;375;p29"/>
          <p:cNvSpPr txBox="1"/>
          <p:nvPr/>
        </p:nvSpPr>
        <p:spPr>
          <a:xfrm>
            <a:off x="571500" y="3979068"/>
            <a:ext cx="5286375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Potřebujeme například vědět, kolik studentů se nachází v každém ročníku? Místo načítání všech řádků necháme počítat přímo databázi pomocí funkce COUNT a GROUP BY.</a:t>
            </a:r>
            <a:endParaRPr/>
          </a:p>
        </p:txBody>
      </p:sp>
      <p:sp>
        <p:nvSpPr>
          <p:cNvPr id="376" name="Google Shape;376;p29"/>
          <p:cNvSpPr txBox="1"/>
          <p:nvPr/>
        </p:nvSpPr>
        <p:spPr>
          <a:xfrm>
            <a:off x="6334125" y="2826543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Spočítání studentů v ročnících</a:t>
            </a:r>
            <a:endParaRPr/>
          </a:p>
        </p:txBody>
      </p:sp>
      <p:sp>
        <p:nvSpPr>
          <p:cNvPr id="377" name="Google Shape;377;p29"/>
          <p:cNvSpPr txBox="1"/>
          <p:nvPr/>
        </p:nvSpPr>
        <p:spPr>
          <a:xfrm>
            <a:off x="6619875" y="3598068"/>
            <a:ext cx="628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SELECT</a:t>
            </a:r>
            <a:endParaRPr/>
          </a:p>
        </p:txBody>
      </p:sp>
      <p:sp>
        <p:nvSpPr>
          <p:cNvPr id="378" name="Google Shape;378;p29"/>
          <p:cNvSpPr txBox="1"/>
          <p:nvPr/>
        </p:nvSpPr>
        <p:spPr>
          <a:xfrm>
            <a:off x="8191500" y="3598068"/>
            <a:ext cx="52387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COUNT</a:t>
            </a:r>
            <a:endParaRPr/>
          </a:p>
        </p:txBody>
      </p:sp>
      <p:sp>
        <p:nvSpPr>
          <p:cNvPr id="379" name="Google Shape;379;p29"/>
          <p:cNvSpPr txBox="1"/>
          <p:nvPr/>
        </p:nvSpPr>
        <p:spPr>
          <a:xfrm>
            <a:off x="10077450" y="3598068"/>
            <a:ext cx="2095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AS</a:t>
            </a:r>
            <a:endParaRPr/>
          </a:p>
        </p:txBody>
      </p:sp>
      <p:sp>
        <p:nvSpPr>
          <p:cNvPr id="380" name="Google Shape;380;p29"/>
          <p:cNvSpPr txBox="1"/>
          <p:nvPr/>
        </p:nvSpPr>
        <p:spPr>
          <a:xfrm>
            <a:off x="6619875" y="3855243"/>
            <a:ext cx="4191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endParaRPr/>
          </a:p>
        </p:txBody>
      </p:sp>
      <p:sp>
        <p:nvSpPr>
          <p:cNvPr id="381" name="Google Shape;381;p29"/>
          <p:cNvSpPr txBox="1"/>
          <p:nvPr/>
        </p:nvSpPr>
        <p:spPr>
          <a:xfrm>
            <a:off x="8086725" y="3855243"/>
            <a:ext cx="8382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GROUP BY</a:t>
            </a:r>
            <a:endParaRPr/>
          </a:p>
        </p:txBody>
      </p:sp>
      <p:sp>
        <p:nvSpPr>
          <p:cNvPr id="382" name="Google Shape;382;p29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Pokročilé dotazy a agregace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7" name="Google Shape;38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8" name="Google Shape;38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786187"/>
            <a:ext cx="528637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0"/>
          <p:cNvSpPr txBox="1"/>
          <p:nvPr/>
        </p:nvSpPr>
        <p:spPr>
          <a:xfrm>
            <a:off x="571500" y="2633662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Slepování tabulek k sobě</a:t>
            </a:r>
            <a:endParaRPr/>
          </a:p>
        </p:txBody>
      </p:sp>
      <p:sp>
        <p:nvSpPr>
          <p:cNvPr id="390" name="Google Shape;390;p30"/>
          <p:cNvSpPr txBox="1"/>
          <p:nvPr/>
        </p:nvSpPr>
        <p:spPr>
          <a:xfrm>
            <a:off x="571500" y="3100387"/>
            <a:ext cx="5286375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Jelikož jsme data na začátku chytře rozdělili do více tabulek, potřebujeme je při zobrazení (např. na webu) zase "slepit" dohromady.</a:t>
            </a:r>
            <a:endParaRPr/>
          </a:p>
        </p:txBody>
      </p:sp>
      <p:sp>
        <p:nvSpPr>
          <p:cNvPr id="391" name="Google Shape;391;p30"/>
          <p:cNvSpPr txBox="1"/>
          <p:nvPr/>
        </p:nvSpPr>
        <p:spPr>
          <a:xfrm>
            <a:off x="571500" y="4057650"/>
            <a:ext cx="5286375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 tomu nám slouží ty proslulé klíče (PK a FK) a velmi silný SQL příkaz jménem JOIN. Databáze najde bleskově shodu mezi klíči a vrátí spojený, ucelený výsledek.</a:t>
            </a:r>
            <a:endParaRPr/>
          </a:p>
        </p:txBody>
      </p:sp>
      <p:sp>
        <p:nvSpPr>
          <p:cNvPr id="392" name="Google Shape;392;p30"/>
          <p:cNvSpPr txBox="1"/>
          <p:nvPr/>
        </p:nvSpPr>
        <p:spPr>
          <a:xfrm>
            <a:off x="6334125" y="2633662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Ukázka v praxi</a:t>
            </a:r>
            <a:endParaRPr/>
          </a:p>
        </p:txBody>
      </p:sp>
      <p:sp>
        <p:nvSpPr>
          <p:cNvPr id="393" name="Google Shape;393;p30"/>
          <p:cNvSpPr txBox="1"/>
          <p:nvPr/>
        </p:nvSpPr>
        <p:spPr>
          <a:xfrm>
            <a:off x="6334125" y="3100387"/>
            <a:ext cx="5286375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Chceme vypsat jméno a rovnou k němu i textový název třídy z jiné tabulky:</a:t>
            </a:r>
            <a:endParaRPr/>
          </a:p>
        </p:txBody>
      </p:sp>
      <p:sp>
        <p:nvSpPr>
          <p:cNvPr id="394" name="Google Shape;394;p30"/>
          <p:cNvSpPr txBox="1"/>
          <p:nvPr/>
        </p:nvSpPr>
        <p:spPr>
          <a:xfrm>
            <a:off x="6619875" y="4090987"/>
            <a:ext cx="6286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SELECT</a:t>
            </a:r>
            <a:endParaRPr/>
          </a:p>
        </p:txBody>
      </p:sp>
      <p:sp>
        <p:nvSpPr>
          <p:cNvPr id="395" name="Google Shape;395;p30"/>
          <p:cNvSpPr txBox="1"/>
          <p:nvPr/>
        </p:nvSpPr>
        <p:spPr>
          <a:xfrm>
            <a:off x="9763125" y="4090987"/>
            <a:ext cx="4191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FROM</a:t>
            </a:r>
            <a:endParaRPr/>
          </a:p>
        </p:txBody>
      </p:sp>
      <p:sp>
        <p:nvSpPr>
          <p:cNvPr id="396" name="Google Shape;396;p30"/>
          <p:cNvSpPr txBox="1"/>
          <p:nvPr/>
        </p:nvSpPr>
        <p:spPr>
          <a:xfrm>
            <a:off x="6619875" y="4348162"/>
            <a:ext cx="41910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JOIN</a:t>
            </a:r>
            <a:endParaRPr/>
          </a:p>
        </p:txBody>
      </p:sp>
      <p:sp>
        <p:nvSpPr>
          <p:cNvPr id="397" name="Google Shape;397;p30"/>
          <p:cNvSpPr txBox="1"/>
          <p:nvPr/>
        </p:nvSpPr>
        <p:spPr>
          <a:xfrm>
            <a:off x="7981950" y="4348162"/>
            <a:ext cx="209550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818CF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ON</a:t>
            </a:r>
            <a:endParaRPr/>
          </a:p>
        </p:txBody>
      </p:sp>
      <p:sp>
        <p:nvSpPr>
          <p:cNvPr id="398" name="Google Shape;398;p30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Propojování dat (JOIN)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3" name="Google Shape;403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16863" y="152400"/>
            <a:ext cx="8558284" cy="655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9" name="Google Shape;40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0" name="Google Shape;41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28825"/>
            <a:ext cx="5286375" cy="3705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1" name="Google Shape;411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28825"/>
            <a:ext cx="5286375" cy="3705225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2"/>
          <p:cNvSpPr txBox="1"/>
          <p:nvPr/>
        </p:nvSpPr>
        <p:spPr>
          <a:xfrm>
            <a:off x="952500" y="2409825"/>
            <a:ext cx="47505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Jde to i bez tabulek?</a:t>
            </a:r>
            <a:endParaRPr/>
          </a:p>
        </p:txBody>
      </p:sp>
      <p:sp>
        <p:nvSpPr>
          <p:cNvPr id="413" name="Google Shape;413;p32"/>
          <p:cNvSpPr txBox="1"/>
          <p:nvPr/>
        </p:nvSpPr>
        <p:spPr>
          <a:xfrm>
            <a:off x="952500" y="2876550"/>
            <a:ext cx="4524375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Zkratka NoSQL (Not Only SQL) označuje moderní databáze, které opustily klasické tabulky. Jsou postavené na mnohem volnější struktuře.</a:t>
            </a:r>
            <a:endParaRPr/>
          </a:p>
        </p:txBody>
      </p:sp>
      <p:sp>
        <p:nvSpPr>
          <p:cNvPr id="414" name="Google Shape;414;p32"/>
          <p:cNvSpPr txBox="1"/>
          <p:nvPr/>
        </p:nvSpPr>
        <p:spPr>
          <a:xfrm>
            <a:off x="952500" y="3833812"/>
            <a:ext cx="4524375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Data často ukládají jako flexibilní dokumenty. Díky tomu může mít každý záznam naprosto odlišné vlastnosti, aniž by to systém mátlo.</a:t>
            </a:r>
            <a:endParaRPr/>
          </a:p>
        </p:txBody>
      </p:sp>
      <p:sp>
        <p:nvSpPr>
          <p:cNvPr id="415" name="Google Shape;415;p32"/>
          <p:cNvSpPr txBox="1"/>
          <p:nvPr/>
        </p:nvSpPr>
        <p:spPr>
          <a:xfrm>
            <a:off x="6715125" y="2409825"/>
            <a:ext cx="47505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Kdy a kde vládnou?</a:t>
            </a:r>
            <a:endParaRPr/>
          </a:p>
        </p:txBody>
      </p:sp>
      <p:sp>
        <p:nvSpPr>
          <p:cNvPr id="416" name="Google Shape;416;p32"/>
          <p:cNvSpPr txBox="1"/>
          <p:nvPr/>
        </p:nvSpPr>
        <p:spPr>
          <a:xfrm>
            <a:off x="6715125" y="2876550"/>
            <a:ext cx="4524375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Jsou nenahraditelné tam, kde zpracováváme nestrukturovaná Big Data v extrémní rychlosti bez jasných schémat.</a:t>
            </a:r>
            <a:endParaRPr/>
          </a:p>
        </p:txBody>
      </p:sp>
      <p:sp>
        <p:nvSpPr>
          <p:cNvPr id="417" name="Google Shape;417;p32"/>
          <p:cNvSpPr txBox="1"/>
          <p:nvPr/>
        </p:nvSpPr>
        <p:spPr>
          <a:xfrm>
            <a:off x="6991350" y="3889681"/>
            <a:ext cx="1047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18" name="Google Shape;418;p32"/>
          <p:cNvSpPr txBox="1"/>
          <p:nvPr/>
        </p:nvSpPr>
        <p:spPr>
          <a:xfrm>
            <a:off x="7096125" y="3892062"/>
            <a:ext cx="4143300" cy="5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IoT: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Ukládání milionů stavů z teplotních senzorů na planetě.</a:t>
            </a:r>
            <a:endParaRPr/>
          </a:p>
        </p:txBody>
      </p:sp>
      <p:sp>
        <p:nvSpPr>
          <p:cNvPr id="419" name="Google Shape;419;p32"/>
          <p:cNvSpPr txBox="1"/>
          <p:nvPr/>
        </p:nvSpPr>
        <p:spPr>
          <a:xfrm>
            <a:off x="6991350" y="4432606"/>
            <a:ext cx="1047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•</a:t>
            </a:r>
            <a:endParaRPr/>
          </a:p>
        </p:txBody>
      </p:sp>
      <p:sp>
        <p:nvSpPr>
          <p:cNvPr id="420" name="Google Shape;420;p32"/>
          <p:cNvSpPr txBox="1"/>
          <p:nvPr/>
        </p:nvSpPr>
        <p:spPr>
          <a:xfrm>
            <a:off x="7096125" y="4434987"/>
            <a:ext cx="4143300" cy="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04775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Nejznámější systémy:</a:t>
            </a: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MongoDB, Redis.</a:t>
            </a:r>
            <a:endParaRPr/>
          </a:p>
        </p:txBody>
      </p:sp>
      <p:sp>
        <p:nvSpPr>
          <p:cNvPr id="421" name="Google Shape;421;p32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NoSQL databáze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6" name="Google Shape;42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33"/>
          <p:cNvSpPr txBox="1"/>
          <p:nvPr/>
        </p:nvSpPr>
        <p:spPr>
          <a:xfrm>
            <a:off x="571500" y="2590800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Flexibilní formát (JSON)</a:t>
            </a:r>
            <a:endParaRPr/>
          </a:p>
        </p:txBody>
      </p:sp>
      <p:sp>
        <p:nvSpPr>
          <p:cNvPr id="428" name="Google Shape;428;p33"/>
          <p:cNvSpPr txBox="1"/>
          <p:nvPr/>
        </p:nvSpPr>
        <p:spPr>
          <a:xfrm>
            <a:off x="571500" y="3057525"/>
            <a:ext cx="5286375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Místo rigidních řádků a sloupců s přesně definovanými datovými typy využívají dokumentové NoSQL databáze (jako MongoDB) strukturu podobnou JSON.</a:t>
            </a:r>
            <a:endParaRPr/>
          </a:p>
        </p:txBody>
      </p:sp>
      <p:sp>
        <p:nvSpPr>
          <p:cNvPr id="429" name="Google Shape;429;p33"/>
          <p:cNvSpPr txBox="1"/>
          <p:nvPr/>
        </p:nvSpPr>
        <p:spPr>
          <a:xfrm>
            <a:off x="571500" y="4014787"/>
            <a:ext cx="5286375" cy="814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Každý dokument může obsahovat pole (arrays) nebo další vnořené objekty. Přidat nové pole "zajmy" jen u jednoho uživatele vůbec nerozbije zbytek databáze.</a:t>
            </a:r>
            <a:endParaRPr/>
          </a:p>
        </p:txBody>
      </p:sp>
      <p:sp>
        <p:nvSpPr>
          <p:cNvPr id="430" name="Google Shape;430;p33"/>
          <p:cNvSpPr txBox="1"/>
          <p:nvPr/>
        </p:nvSpPr>
        <p:spPr>
          <a:xfrm>
            <a:off x="6334125" y="2590800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Ukázka dokumentu (MongoDB)</a:t>
            </a:r>
            <a:endParaRPr/>
          </a:p>
        </p:txBody>
      </p:sp>
      <p:sp>
        <p:nvSpPr>
          <p:cNvPr id="431" name="Google Shape;431;p33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Anatomie NoSQL dokumentu</a:t>
            </a:r>
            <a:endParaRPr/>
          </a:p>
        </p:txBody>
      </p:sp>
      <p:pic>
        <p:nvPicPr>
          <p:cNvPr id="432" name="Google Shape;432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68800" y="2983700"/>
            <a:ext cx="4552950" cy="287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7" name="Google Shape;437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p34"/>
          <p:cNvSpPr/>
          <p:nvPr/>
        </p:nvSpPr>
        <p:spPr>
          <a:xfrm>
            <a:off x="571500" y="1959768"/>
            <a:ext cx="11049000" cy="3843337"/>
          </a:xfrm>
          <a:prstGeom prst="roundRect">
            <a:avLst>
              <a:gd fmla="val 0" name="adj"/>
            </a:avLst>
          </a:prstGeom>
          <a:solidFill>
            <a:srgbClr val="2D3748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39" name="Google Shape;439;p34"/>
          <p:cNvGraphicFramePr/>
          <p:nvPr/>
        </p:nvGraphicFramePr>
        <p:xfrm>
          <a:off x="571500" y="19597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{2539B1FE-CE84-4ECC-8EF6-521FB6EFA7DC}</a:tableStyleId>
              </a:tblPr>
              <a:tblGrid>
                <a:gridCol w="2602700"/>
                <a:gridCol w="3932050"/>
                <a:gridCol w="4514250"/>
              </a:tblGrid>
              <a:tr h="76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8FAFC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Vlastnost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8FAFC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Relační (SQL)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02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8FAFC"/>
                          </a:solidFill>
                          <a:latin typeface="Inter SemiBold"/>
                          <a:ea typeface="Inter SemiBold"/>
                          <a:cs typeface="Inter SemiBold"/>
                          <a:sym typeface="Inter SemiBold"/>
                        </a:rPr>
                        <a:t>NoSQL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A202C"/>
                    </a:solidFill>
                  </a:tcPr>
                </a:tc>
              </a:tr>
              <a:tr h="76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Struktura dat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Pevné tabulky, sloupce a relace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Flexibilní dokumenty (JSON), grafy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5568"/>
                    </a:solidFill>
                  </a:tcPr>
                </a:tc>
              </a:tr>
              <a:tr h="76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Změna schématu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Náročná (vyžaduje migraci všech dat)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Velmi snadná, přidání pole je okamžité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5568"/>
                    </a:solidFill>
                  </a:tcPr>
                </a:tc>
              </a:tr>
              <a:tr h="76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Konzistence (Transakce)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Absolutní spolehlivost (Ideální pro finance)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Může být volnější (Výměnou za extrémní rychlost)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5568"/>
                    </a:solidFill>
                  </a:tcPr>
                </a:tc>
              </a:tr>
              <a:tr h="768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Ideální využití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Účetnictví, banky, e-shopy, ERP systémy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556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CBD5E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Sociální sítě, IoT, herní statistiky, rychlý vývoj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A5568"/>
                    </a:solidFill>
                  </a:tcPr>
                </a:tc>
              </a:tr>
            </a:tbl>
          </a:graphicData>
        </a:graphic>
      </p:graphicFrame>
      <p:sp>
        <p:nvSpPr>
          <p:cNvPr id="440" name="Google Shape;440;p34"/>
          <p:cNvSpPr/>
          <p:nvPr/>
        </p:nvSpPr>
        <p:spPr>
          <a:xfrm>
            <a:off x="571500" y="2607468"/>
            <a:ext cx="2602706" cy="9525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4"/>
          <p:cNvSpPr/>
          <p:nvPr/>
        </p:nvSpPr>
        <p:spPr>
          <a:xfrm>
            <a:off x="3174206" y="2607468"/>
            <a:ext cx="3932039" cy="9525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4"/>
          <p:cNvSpPr/>
          <p:nvPr/>
        </p:nvSpPr>
        <p:spPr>
          <a:xfrm>
            <a:off x="7106245" y="2607468"/>
            <a:ext cx="4514254" cy="9525"/>
          </a:xfrm>
          <a:prstGeom prst="rect">
            <a:avLst/>
          </a:prstGeom>
          <a:solidFill>
            <a:srgbClr val="4A556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4"/>
          <p:cNvSpPr/>
          <p:nvPr/>
        </p:nvSpPr>
        <p:spPr>
          <a:xfrm>
            <a:off x="571500" y="3487606"/>
            <a:ext cx="2602800" cy="9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4"/>
          <p:cNvSpPr/>
          <p:nvPr/>
        </p:nvSpPr>
        <p:spPr>
          <a:xfrm>
            <a:off x="3174206" y="3487606"/>
            <a:ext cx="3932100" cy="9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4"/>
          <p:cNvSpPr/>
          <p:nvPr/>
        </p:nvSpPr>
        <p:spPr>
          <a:xfrm>
            <a:off x="7106245" y="3487606"/>
            <a:ext cx="4514400" cy="9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4"/>
          <p:cNvSpPr/>
          <p:nvPr/>
        </p:nvSpPr>
        <p:spPr>
          <a:xfrm>
            <a:off x="571500" y="4265793"/>
            <a:ext cx="2602800" cy="9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4"/>
          <p:cNvSpPr/>
          <p:nvPr/>
        </p:nvSpPr>
        <p:spPr>
          <a:xfrm>
            <a:off x="3174206" y="4265793"/>
            <a:ext cx="3932100" cy="9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34"/>
          <p:cNvSpPr/>
          <p:nvPr/>
        </p:nvSpPr>
        <p:spPr>
          <a:xfrm>
            <a:off x="7106245" y="4265793"/>
            <a:ext cx="4514400" cy="9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4"/>
          <p:cNvSpPr/>
          <p:nvPr/>
        </p:nvSpPr>
        <p:spPr>
          <a:xfrm>
            <a:off x="571500" y="5024943"/>
            <a:ext cx="2602800" cy="9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4"/>
          <p:cNvSpPr/>
          <p:nvPr/>
        </p:nvSpPr>
        <p:spPr>
          <a:xfrm>
            <a:off x="3174206" y="5024943"/>
            <a:ext cx="3932100" cy="9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4"/>
          <p:cNvSpPr/>
          <p:nvPr/>
        </p:nvSpPr>
        <p:spPr>
          <a:xfrm>
            <a:off x="7106245" y="5024943"/>
            <a:ext cx="4514400" cy="9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4"/>
          <p:cNvSpPr txBox="1"/>
          <p:nvPr/>
        </p:nvSpPr>
        <p:spPr>
          <a:xfrm>
            <a:off x="571500" y="571500"/>
            <a:ext cx="1160145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75" u="none" cap="none" strike="noStrik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SQL vs. NoSQL: Kdy zvolit co?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